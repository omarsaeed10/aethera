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5912" cy="5486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3" name="Image 0" descr="d:/Projects/sofraa/Aethera/ne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356616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05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PROJECT DELIVERABLE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97280" y="14630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Aethera — University Edition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97280" y="2377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Unified Modelling Language (UML) Software Engineering Project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97280" y="3017520"/>
            <a:ext cx="99669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200400"/>
            <a:ext cx="9418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Author: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B82F6"/>
                </a:solidFill>
              </a:rPr>
              <a:t>Omar Saeed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ID: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222101064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Course: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Software Engineering &amp; UML Modeling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Engine: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B5CF6"/>
                </a:solidFill>
              </a:rPr>
              <a:t>Groq Cloud Llama 3.3 70B Versatile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Problem Statement &amp; Project Vision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⚠️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Information Overload: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Textbooks and lectures require excessive time to digest.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Inefficient Revision: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Manual flashcard creation and note-taking waste study hours.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Fragmented Tools: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Students switch between disconnected applications for summaries, quizzes, and planning.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91072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🚀 The Vision &amp;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65392" y="237744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All-In-One Platform: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Unified academic workspace containing 17+ AI-powered tools.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Privacy-First Parsing: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Local document extraction for PDF, DOCX, and TXT files.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Live Ecosystem Integration: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Instant synchronization with Notion databases and export to Anki (.apkg).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Requirements Engineering &amp; System Specs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Functional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Academic Summaries (4 modes)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Exam Question Generator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Flashcards &amp; Mind Maps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GPA Calculator &amp; Pomodoro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3984" y="1554480"/>
            <a:ext cx="329184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Non-Functional Specs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6864" y="237744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Sub-second Groq AI inference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Local file parsing privacy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High availability &amp; uptime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Responsive Cyberpunk 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6448" y="1554480"/>
            <a:ext cx="329184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Integration Specs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9328" y="237744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Notion API Live Sync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Supabase Vector Database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SQLite3 Local Storage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• Web Speech API (TTS/STT)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3.1 UML Diagrams — System Boundary &amp; Use Cases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[1] Context Diagram</a:t>
            </a:r>
            <a:endParaRPr lang="en-US" sz="1500" dirty="0"/>
          </a:p>
        </p:txBody>
      </p:sp>
      <p:pic>
        <p:nvPicPr>
          <p:cNvPr id="7" name="Image 0" descr="d:\Projects\sofraa\diagram_images\diagram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94560"/>
            <a:ext cx="48006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[2] Use Case Diagram</a:t>
            </a:r>
            <a:endParaRPr lang="en-US" sz="1500" dirty="0"/>
          </a:p>
        </p:txBody>
      </p:sp>
      <p:pic>
        <p:nvPicPr>
          <p:cNvPr id="10" name="Image 1" descr="d:\Projects\sofraa\diagram_images\diagram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2" y="219456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3.2 UML Diagrams — Dynamic Behavior &amp;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[3] Activity Diagram</a:t>
            </a:r>
            <a:endParaRPr lang="en-US" sz="1500" dirty="0"/>
          </a:p>
        </p:txBody>
      </p:sp>
      <p:pic>
        <p:nvPicPr>
          <p:cNvPr id="7" name="Image 0" descr="d:\Projects\sofraa\diagram_images\diagram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94560"/>
            <a:ext cx="48006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[4] Sequence Diagram</a:t>
            </a:r>
            <a:endParaRPr lang="en-US" sz="1500" dirty="0"/>
          </a:p>
        </p:txBody>
      </p:sp>
      <p:pic>
        <p:nvPicPr>
          <p:cNvPr id="10" name="Image 1" descr="d:\Projects\sofraa\diagram_images\diagram_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2" y="219456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3.3 UML Diagrams — State Behavior &amp; Data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[5] State Machine Diagram</a:t>
            </a:r>
            <a:endParaRPr lang="en-US" sz="1500" dirty="0"/>
          </a:p>
        </p:txBody>
      </p:sp>
      <p:pic>
        <p:nvPicPr>
          <p:cNvPr id="7" name="Image 0" descr="d:\Projects\sofraa\diagram_images\diagram_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94560"/>
            <a:ext cx="48006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[6] Data Flow Diagram (DFD)</a:t>
            </a:r>
            <a:endParaRPr lang="en-US" sz="1500" dirty="0"/>
          </a:p>
        </p:txBody>
      </p:sp>
      <p:pic>
        <p:nvPicPr>
          <p:cNvPr id="10" name="Image 1" descr="d:\Projects\sofraa\diagram_images\diagram_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2" y="219456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3.4 UML Diagrams — Data Schema &amp; Object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[7] Entity Relationship Diagram (ERD)</a:t>
            </a:r>
            <a:endParaRPr lang="en-US" sz="1500" dirty="0"/>
          </a:p>
        </p:txBody>
      </p:sp>
      <p:pic>
        <p:nvPicPr>
          <p:cNvPr id="7" name="Image 0" descr="d:\Projects\sofraa\diagram_images\diagram_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94560"/>
            <a:ext cx="48006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554480"/>
            <a:ext cx="5166360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[8] Class Diagram</a:t>
            </a:r>
            <a:endParaRPr lang="en-US" sz="1500" dirty="0"/>
          </a:p>
        </p:txBody>
      </p:sp>
      <p:pic>
        <p:nvPicPr>
          <p:cNvPr id="10" name="Image 1" descr="d:\Projects\sofraa\diagram_images\diagram_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2" y="219456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Full-Stack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072591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Client Layer (SPA)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916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HTML5, CSS Glassmorphic Cyberpunk Theme, Vanilla JS SPA, PDF.js &amp; DOCX parsers.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72591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Application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Node.js &amp; Express REST API, JWT Authentication, Express Rate Limiter, Resend Mailer.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72591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Data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0690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SQLite3 local storage (aethera.sqlite) &amp; Supabase PostgreSQL with pgvector extension.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725912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AI Inference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52578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Groq Cloud API (Llama 3.3 70B Versatile) for sub-second streaming inference.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Front-End Prototype Screenshots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25780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Main Academic Dashboard</a:t>
            </a:r>
            <a:endParaRPr lang="en-US" sz="1200" dirty="0"/>
          </a:p>
        </p:txBody>
      </p:sp>
      <p:pic>
        <p:nvPicPr>
          <p:cNvPr id="7" name="Image 0" descr="d:\Projects\sofraa\images\step1_main_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965960"/>
            <a:ext cx="4892040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554480"/>
            <a:ext cx="525780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Academic Summarizer</a:t>
            </a:r>
            <a:endParaRPr lang="en-US" sz="1200" dirty="0"/>
          </a:p>
        </p:txBody>
      </p:sp>
      <p:pic>
        <p:nvPicPr>
          <p:cNvPr id="10" name="Image 1" descr="d:\Projects\sofraa\images\step2_summariz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965960"/>
            <a:ext cx="4892040" cy="1737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3931920"/>
            <a:ext cx="525780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4023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Exam Question Generator</a:t>
            </a:r>
            <a:endParaRPr lang="en-US" sz="1200" dirty="0"/>
          </a:p>
        </p:txBody>
      </p:sp>
      <p:pic>
        <p:nvPicPr>
          <p:cNvPr id="13" name="Image 2" descr="d:\Projects\sofraa\images\step3_quiz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4343400"/>
            <a:ext cx="4892040" cy="17373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72200" y="3931920"/>
            <a:ext cx="525780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4023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Mind Map Visualizer</a:t>
            </a:r>
            <a:endParaRPr lang="en-US" sz="1200" dirty="0"/>
          </a:p>
        </p:txBody>
      </p:sp>
      <p:pic>
        <p:nvPicPr>
          <p:cNvPr id="16" name="Image 3" descr="d:\Projects\sofraa\images\step4_mindma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343400"/>
            <a:ext cx="48920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UML SOFTWARE ENGINEERING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Project Deliverables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2591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🎯 Project Outcome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9966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1. Final Report (PDF):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Complete requirements, 8 UML diagrams, and software architecture specs.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Project Presentation (PPTX &amp; PDF):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Comprehensive presentation detailing problem, design decisions, and embedded UML diagrams.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3. Software Prototype: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Full front-end implementation supported by Node.js backend &amp; SQLite/Supabase database.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Author: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B82F6"/>
                </a:solidFill>
              </a:rPr>
              <a:t>Omar Saeed (ID: 222101064)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Aethera — UML Software Engineering Presentation</dc:title>
  <dc:subject>PptxGenJS Presentation</dc:subject>
  <dc:creator>Omar Saeed</dc:creator>
  <cp:lastModifiedBy>Omar Saeed</cp:lastModifiedBy>
  <cp:revision>1</cp:revision>
  <dcterms:created xsi:type="dcterms:W3CDTF">2026-08-15T18:04:44Z</dcterms:created>
  <dcterms:modified xsi:type="dcterms:W3CDTF">2026-08-15T18:04:44Z</dcterms:modified>
</cp:coreProperties>
</file>